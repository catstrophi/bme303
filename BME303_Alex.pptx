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81" r:id="rId2"/>
    <p:sldId id="280" r:id="rId3"/>
    <p:sldId id="276" r:id="rId4"/>
    <p:sldId id="256" r:id="rId5"/>
    <p:sldId id="277" r:id="rId6"/>
    <p:sldId id="258" r:id="rId7"/>
    <p:sldId id="259" r:id="rId8"/>
    <p:sldId id="279" r:id="rId9"/>
    <p:sldId id="262" r:id="rId10"/>
    <p:sldId id="273" r:id="rId11"/>
    <p:sldId id="274" r:id="rId12"/>
    <p:sldId id="275" r:id="rId13"/>
    <p:sldId id="272" r:id="rId14"/>
    <p:sldId id="282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59"/>
    <p:restoredTop sz="94694"/>
  </p:normalViewPr>
  <p:slideViewPr>
    <p:cSldViewPr snapToGrid="0">
      <p:cViewPr>
        <p:scale>
          <a:sx n="101" d="100"/>
          <a:sy n="101" d="100"/>
        </p:scale>
        <p:origin x="156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1C6E6-7C5A-4A45-9D28-D21A320D6804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370F-80EB-6A4C-93EC-C36A74F8E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2268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EF370F-80EB-6A4C-93EC-C36A74F8EA49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4353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E7C46-42A1-A68C-0ED7-C2280E9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713F61-D6FD-2435-3577-CB390E4C0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1B9B33-9913-2D18-6A17-11E0C1504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068F-013A-DB47-8191-CDB8BDE65243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4C2056-564C-4211-D4F1-0F60E88D6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C68326-1C4B-B1FB-830D-2C02F522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8806-CACD-D84B-861F-5F48AA4C20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2606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2E5FF-C8B9-96FA-CC81-A93D30F3C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FB615F-732B-D45B-6D8E-FA0803B6D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C8BBAF-AF4A-F99E-A3FC-8AE5961D0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068F-013A-DB47-8191-CDB8BDE65243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BA4008-38A4-C8BE-2055-5BC2AD017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AA2206-BDB4-65AA-BA50-2A1E116AD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8806-CACD-D84B-861F-5F48AA4C20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2771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CBAECB-5593-7625-8BDA-5AE63D474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3D7000-9075-364B-C9CA-BB5311AD1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1BF883-65BE-3969-CFCF-CB6F4C44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068F-013A-DB47-8191-CDB8BDE65243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055FC-8297-FFDA-5F69-17726D266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B02391-98E1-E32D-0033-789120C07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8806-CACD-D84B-861F-5F48AA4C20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6004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0117A6-9D2D-FC93-ABB5-B7C7AE5E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F2F8BD-3B7A-A4C8-B732-64246FB7C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5AC2DF-2C08-9839-7930-3C1EC75C9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E1E152-7A43-6CB1-7F9D-F7DEEC02A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068F-013A-DB47-8191-CDB8BDE65243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9CFA3B-02BB-E4BB-B270-A848233AF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17A214-BD87-7EE5-4778-2C316D3F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8806-CACD-D84B-861F-5F48AA4C20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4301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60DAB-8D1A-122F-FE54-047E7AF79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871392-456A-A440-AE81-3B1614D7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0C8A57-2F8B-5F3B-F93B-A7E5EBA75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40BA81-269E-02A0-4C50-316BECBC7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D6EE54F-03F0-638C-E329-74B10A9EB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7546C9-A29C-A893-2DFC-BE86266FF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068F-013A-DB47-8191-CDB8BDE65243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A346D6E-CCC7-3BAC-7BD2-89CAFF04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4ECC62-F3F4-6818-333F-DDBDE558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8806-CACD-D84B-861F-5F48AA4C20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7768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09866-DC74-CC4C-3F97-C6A89E74A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1C374C8-FC34-7D27-515A-D08352AF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068F-013A-DB47-8191-CDB8BDE65243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D4EB7F-A9C6-1483-0B60-4A89875F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2C6EAF-396B-2DD6-0521-DD44C1C0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8806-CACD-D84B-861F-5F48AA4C20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390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00AE50-B02F-FCC6-6849-EBA5396FB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068F-013A-DB47-8191-CDB8BDE65243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443C49-0815-42D1-1A21-2231D8BFB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D687C9-CB08-3F64-2DB6-BC03303F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8806-CACD-D84B-861F-5F48AA4C20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9684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54501-2F8B-5193-D92F-988C70A6F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FAD14-62D3-AB49-1945-0378B51CF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52A43B-AE1F-5D40-C173-DED5D0E3B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B7A217-B7FC-741D-381E-0505F27F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068F-013A-DB47-8191-CDB8BDE65243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47805A-887E-124B-C7DE-F1461B275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CF3A09-0A71-483D-9992-331264BBB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8806-CACD-D84B-861F-5F48AA4C20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1157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430DF-EEE2-B3C9-97BD-84AFDCE4C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B23D7D-3FF3-BA62-99C5-E9FD39E181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1C4F3A-6B86-66C8-E912-8786733C6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777C57-D448-0F5A-3770-A65422EEB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068F-013A-DB47-8191-CDB8BDE65243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823262-3B3E-FB11-B784-4B60251D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67256E-88FC-D055-A308-30762E75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8806-CACD-D84B-861F-5F48AA4C20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0860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446CC1-F8F2-28D7-871B-41ECAFEE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9C1B37-7A57-D06F-A315-C2DC8BF66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32C80D-6A43-19C6-47C0-DB85B520D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068F-013A-DB47-8191-CDB8BDE65243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A3B89D-C600-9023-A739-2521306DC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CE3DBF-1AC0-FEE6-7884-69A6D7690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8806-CACD-D84B-861F-5F48AA4C20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8059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58157D-AB2E-D6E2-D6D7-43898976CD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663589-FCF7-4678-2E75-1EA931640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35F0C5-34D3-AD2B-61F6-7B00EAA15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068F-013A-DB47-8191-CDB8BDE65243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B5B8CE-C417-56A0-BBB7-A9E78B7E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93534-E2EC-089D-C75E-52DB1FD4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8806-CACD-D84B-861F-5F48AA4C20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3184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7C1FAD9-4786-4DCC-3592-6C1D141A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7AD617-4506-496D-A323-B772EA9D4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8A4C65-7BDA-87D9-1B91-D2ECDA64D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9068F-013A-DB47-8191-CDB8BDE65243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4E706E-46E7-21DB-9C3F-A14B70B81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E78A21-A1C0-5B70-B910-8E3EEA2E6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88806-CACD-D84B-861F-5F48AA4C20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4536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atstrophi/BME303-Bone-Fracture-Simula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71C625-2E06-498B-786A-B3770491A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5866"/>
            <a:ext cx="10515600" cy="35062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BME 303: Final Project:</a:t>
            </a:r>
            <a:endParaRPr lang="en-US" altLang="zh-C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Cellular Simulation of Immune-Mediated Bone Repair</a:t>
            </a:r>
            <a:endParaRPr lang="en-US" altLang="zh-CN" sz="5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98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8EF15-9F42-15E9-23E7-69204604A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489E1-86E5-A15B-48D0-0E2AE7690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583709"/>
            <a:ext cx="9144000" cy="477837"/>
          </a:xfrm>
        </p:spPr>
        <p:txBody>
          <a:bodyPr>
            <a:normAutofit fontScale="90000"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0BE156-3B45-AC8D-16A2-92FC7C78197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25971" y="1061546"/>
            <a:ext cx="11740055" cy="5586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Rising viral infections are attacking bone receptors and preventing fractures from healing properly, leaving patients with long-term complications and no available medical treatment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zh-CN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The Global Burden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Scale: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Over 3.68 million diagnoses</a:t>
            </a:r>
          </a:p>
          <a:p>
            <a:pPr marL="800100" lvl="1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Trend: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19% increase since 2024</a:t>
            </a:r>
          </a:p>
          <a:p>
            <a:pPr marL="800100" lvl="1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Severity: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40% of patients fail to recover completely</a:t>
            </a:r>
          </a:p>
          <a:p>
            <a:pPr marL="800100" lvl="1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Duration: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Average symptoms persist for over 3 months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The Viral Mechanism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Target: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Viruses attack the bone via the </a:t>
            </a:r>
            <a:r>
              <a:rPr kumimoji="0" lang="zh-CN" altLang="zh-CN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MXRA8 receptor</a:t>
            </a:r>
          </a:p>
          <a:p>
            <a:pPr marL="800100" lvl="1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Action: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Triggers intracellular replication and a </a:t>
            </a:r>
            <a:r>
              <a:rPr kumimoji="0" lang="zh-CN" altLang="zh-CN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hyperinflammatory cytokine cascade</a:t>
            </a:r>
          </a:p>
          <a:p>
            <a:pPr marL="800100" lvl="1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Treatment Gap: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</a:t>
            </a:r>
            <a:r>
              <a:rPr kumimoji="0" lang="zh-CN" altLang="zh-CN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Currently no approved drug exists to stop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this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92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74E08-AA3B-FAA0-3C49-2D538900B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26F875-35EA-CC1A-271D-12E3C5C6E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165" y="641488"/>
            <a:ext cx="11855669" cy="477837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Von Neumann Neighborhood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8B16F7-B90A-97B1-E81A-0BF09E8C4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023" y="1429407"/>
            <a:ext cx="7378263" cy="5662064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simulation reads the grid using a Von Neumann neighborhood meaning cells only interact with the 4 directly adjacent squares (Up, Down, Left, Right)</a:t>
            </a:r>
          </a:p>
          <a:p>
            <a:pPr algn="l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Defining Bone Edges: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bone cell touches an empty space in any of its 4 directions, it is painted black to create the outer wall</a:t>
            </a:r>
          </a:p>
          <a:p>
            <a:pPr algn="l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Building the Flow Field: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Starting from the fracture (Value = 0), the algorithm scans outward, assigning each safe adjacent cell a distance value of +1</a:t>
            </a:r>
          </a:p>
          <a:p>
            <a:pPr algn="l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Enemy Movement: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Enemies don't need complex AI. They simply scan their 4 neighbors and step onto the cell with the lowest distance value</a:t>
            </a:r>
          </a:p>
          <a:p>
            <a:pPr algn="l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6FAB0B-1218-31ED-9B44-FED3DF199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377" y="1941375"/>
            <a:ext cx="3911600" cy="37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92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981C4-DAED-109E-3980-206A93F20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552177"/>
            <a:ext cx="9144000" cy="477837"/>
          </a:xfrm>
        </p:spPr>
        <p:txBody>
          <a:bodyPr>
            <a:normAutofit fontScale="90000"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Environment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10369B-0B4B-9489-7A2A-36DB175A2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819" y="1103587"/>
            <a:ext cx="11540359" cy="5662064"/>
          </a:xfrm>
        </p:spPr>
        <p:txBody>
          <a:bodyPr/>
          <a:lstStyle/>
          <a:p>
            <a:pPr algn="l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Grid: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 x 100 space where three phases are simulated simultaneously: bone healing, infection spawning, and immune defense</a:t>
            </a:r>
          </a:p>
          <a:p>
            <a:pPr algn="l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Bone: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Located in the center, with grey representing the bone and black representing the edge. It heals progressively over time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7AC676-A8AA-F073-9BE4-73E6B3DB6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698" y="3224978"/>
            <a:ext cx="65786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780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5653C-D918-5BD9-4B1C-C63193C24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E62DC-088F-5783-9832-512F32747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26053"/>
            <a:ext cx="9144000" cy="477837"/>
          </a:xfrm>
        </p:spPr>
        <p:txBody>
          <a:bodyPr>
            <a:normAutofit fontScale="90000"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logic: Flow-field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081BED3-338C-5CAE-19B0-C6BE76FB44E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1288" y="1495941"/>
            <a:ext cx="698679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Target: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center of the bone fracture is designated as the goal (Value = 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zh-CN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Gradient: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algorithm scans outward, assigning each safe adjacent cell a distance value of +1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zh-CN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Movement: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Enemies do not need complex AI. They simply read the grid and continuously step onto the neighboring cell with the lowest value.</a:t>
            </a:r>
          </a:p>
          <a:p>
            <a:pPr marL="800100" lvl="1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continuous 3x3 clearance check ensures the 2x2 enemies safely bypass walls without clipping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4B70764A-D538-C704-365A-994808EB7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995" y="1951419"/>
            <a:ext cx="3726717" cy="361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259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15240-4029-0365-82AE-18D622F04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8983C-7865-4243-B570-BFD16258B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533083"/>
            <a:ext cx="9144000" cy="477837"/>
          </a:xfrm>
        </p:spPr>
        <p:txBody>
          <a:bodyPr>
            <a:normAutofit fontScale="90000"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logic: Defense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68456F-C45B-9D2A-7F03-4B3BA0C4A12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36290" y="1010920"/>
            <a:ext cx="11719417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The Bone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Placed directly in the center of the screen</a:t>
            </a:r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Grey interior with black edges</a:t>
            </a:r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Heals progressively over time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The Immune System (Towers)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Represented as 3x3 grey boxes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Constantly scan their radius. If an enemy steps in range, they deal damage instantly.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Distributed evenly above and below the bone shaft</a:t>
            </a:r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If a tower dies, the towers automatically reorganize to maintain a balanced defense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EC6E88-76F3-5C4F-239E-B45C21B2A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520" y="4834546"/>
            <a:ext cx="4045479" cy="18808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315B7C0-434F-5501-6597-9AAD36B67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997" y="4849386"/>
            <a:ext cx="4045479" cy="185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2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E73C5-2B72-1B93-E47B-EE8BC6BD1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9A0547-8D40-4D5A-0C10-B8BDA4F7E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505045"/>
            <a:ext cx="9144000" cy="477837"/>
          </a:xfrm>
        </p:spPr>
        <p:txBody>
          <a:bodyPr>
            <a:normAutofit fontScale="90000"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logic: Threat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2F6285-43B3-B22E-E02E-BCB08BA70AC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97661" y="982882"/>
            <a:ext cx="11596676" cy="373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The Infection (Enemies)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Represented as 2x2 red boxes</a:t>
            </a:r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Spawn randomly at the edges of the grid</a:t>
            </a:r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Spawns in waves, with the spawn rate increasing over time</a:t>
            </a:r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They must choose an action: they can either attack or move, but not both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The Infection Penalty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If enough enemies get within a certain radius of the fracture, the bone suffers a penalty, slowing down its recovery speed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9115B97-A8F3-BB24-9A6A-2D2A4B902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513" y="4386386"/>
            <a:ext cx="4864974" cy="237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39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10436-DB9D-017D-EB38-43963875A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4255A-96BA-0BFE-5700-197B31B4F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760" y="594219"/>
            <a:ext cx="11655972" cy="477837"/>
          </a:xfrm>
        </p:spPr>
        <p:txBody>
          <a:bodyPr>
            <a:normAutofit fontScale="90000"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logic: Spawn rate &amp; Vaccine</a:t>
            </a:r>
            <a:endParaRPr kumimoji="1" lang="zh-CN" alt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2E475A-8BC4-5696-4ECA-0C91CDF25E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04760" y="1351508"/>
            <a:ext cx="1178247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Spawning (The Baseline)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Enemies don't just spawn once; they trickle in continuously, distributed evenly over a set number of ticks</a:t>
            </a:r>
          </a:p>
          <a:p>
            <a:pPr marL="800100" lvl="1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simulate a multiplying infection, the spawn rate automatically increases by a set amount after every cycle finishes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Vaccine (The Variable)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want to observe the effects a vaccine has on the survival and healing rate of the bone</a:t>
            </a:r>
          </a:p>
          <a:p>
            <a:pPr marL="800100" lvl="1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vaccine acts as a preemptive intervention that instantly cuts the enemy spawn rate in half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230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6AEF9-0C28-7813-3AE7-275D01F40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CA2B9-BCE5-F0A0-284F-002FA9EE3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26053"/>
            <a:ext cx="9144000" cy="477837"/>
          </a:xfrm>
        </p:spPr>
        <p:txBody>
          <a:bodyPr>
            <a:normAutofit fontScale="90000"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BA53BC-88E7-499F-1A94-39343B741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603" y="903890"/>
            <a:ext cx="6142791" cy="588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5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0CABE6E-723B-67C4-B2A1-3F93C944A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16" y="1496828"/>
            <a:ext cx="11960367" cy="386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41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2413A59C-9740-EA05-DA91-3D433BDF6E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988" y="1485844"/>
            <a:ext cx="11984023" cy="388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4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E480C14-387A-E4FE-15E6-AA5DAD4E3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51" y="1475918"/>
            <a:ext cx="12013298" cy="390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314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C63E-EFF1-D430-8CB9-0274B3C4B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82CE0-621D-1FE6-E309-63D3DF288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26053"/>
            <a:ext cx="9144000" cy="477837"/>
          </a:xfrm>
        </p:spPr>
        <p:txBody>
          <a:bodyPr>
            <a:normAutofit fontScale="90000"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Improvements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C9CF75A-A329-97C1-3CE8-158DD6B57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715" y="1064991"/>
            <a:ext cx="5575741" cy="5586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Improved</a:t>
            </a:r>
            <a:r>
              <a:rPr lang="zh-CN" altLang="zh-CN" sz="2400" b="1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Pathfinding</a:t>
            </a:r>
            <a:r>
              <a:rPr lang="zh-CN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: Implement a changing goal state that </a:t>
            </a:r>
            <a:r>
              <a:rPr lang="en-US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changes</a:t>
            </a:r>
            <a:r>
              <a:rPr lang="zh-CN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as the fracture heals, rather than</a:t>
            </a:r>
            <a:r>
              <a:rPr lang="en-US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being</a:t>
            </a:r>
            <a:r>
              <a:rPr lang="zh-CN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a static box</a:t>
            </a:r>
            <a:endParaRPr lang="en-US" altLang="zh-CN" sz="2400" dirty="0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zh-CN" sz="2400" dirty="0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b="1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Vaccine Mechanics</a:t>
            </a:r>
            <a:r>
              <a:rPr lang="zh-CN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: </a:t>
            </a:r>
            <a:r>
              <a:rPr lang="en-US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Change</a:t>
            </a:r>
            <a:r>
              <a:rPr lang="zh-CN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from a permanent spawn reduction to a temporary decrease that better simulates real-world</a:t>
            </a:r>
            <a:r>
              <a:rPr lang="en-US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function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zh-CN" sz="2400" dirty="0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b="1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Advanced Cell Behavior</a:t>
            </a:r>
            <a:r>
              <a:rPr lang="zh-CN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: Add</a:t>
            </a:r>
            <a:r>
              <a:rPr lang="en-US" altLang="zh-CN" sz="2400" dirty="0" err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ing</a:t>
            </a:r>
            <a:r>
              <a:rPr lang="zh-CN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different</a:t>
            </a:r>
            <a:r>
              <a:rPr lang="zh-CN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immune cell types with unique behaviors, such as</a:t>
            </a:r>
            <a:r>
              <a:rPr lang="en-US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</a:t>
            </a:r>
            <a:r>
              <a:rPr lang="zh-CN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patrolling units rather than static towers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17CD7A8-84DD-E3E0-9A88-8B3BAB708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544" y="1064991"/>
            <a:ext cx="5575742" cy="521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b="1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2D Environment</a:t>
            </a:r>
            <a:r>
              <a:rPr lang="zh-CN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: The current 100x100 grid simulates bone repair in two dimensions, whereas biological bone healing is a 3D process</a:t>
            </a:r>
            <a:endParaRPr lang="en-US" altLang="zh-CN" sz="2400" dirty="0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zh-CN" sz="2400" dirty="0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b="1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Simplified Pathfinding</a:t>
            </a:r>
            <a:r>
              <a:rPr lang="zh-CN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: Enemies rely on a basic flow field and Von Neumann neighborhood, which may not capture complex biological </a:t>
            </a:r>
            <a:r>
              <a:rPr lang="en-US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movement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zh-CN" sz="2400" dirty="0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b="1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Linear Spawning</a:t>
            </a:r>
            <a:r>
              <a:rPr lang="zh-CN" altLang="zh-CN" sz="2400" dirty="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: While wave-based, the spawn logic relies on set increments that may oversimplify the unpredictable nature of viral replication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672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B9D4A7-9FA2-456F-DEE0-E3C584A11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kumimoji="1" lang="en-US" altLang="zh-CN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 </a:t>
            </a:r>
            <a:br>
              <a:rPr kumimoji="1" lang="en-US" altLang="zh-CN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  <a:br>
              <a:rPr kumimoji="1" lang="en-US" altLang="zh-CN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https://github.com/Catstrophi/BME303-Bone-Fracture-Simulation</a:t>
            </a:r>
            <a:b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1" lang="zh-CN" altLang="en-US" sz="5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006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ME303_Alex" id="{CB901EB7-2FB5-694D-9A73-9957D1AFA59B}" vid="{5FDB0D6F-6127-4C48-90C4-748BD7AAE6D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4278</TotalTime>
  <Words>760</Words>
  <Application>Microsoft Macintosh PowerPoint</Application>
  <PresentationFormat>宽屏</PresentationFormat>
  <Paragraphs>74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The Problem</vt:lpstr>
      <vt:lpstr>The Von Neumann Neighborhood</vt:lpstr>
      <vt:lpstr>The Environment</vt:lpstr>
      <vt:lpstr>The logic: Flow-field</vt:lpstr>
      <vt:lpstr>The logic: Defense</vt:lpstr>
      <vt:lpstr>The logic: Threat</vt:lpstr>
      <vt:lpstr>The logic: Spawn rate &amp; Vaccine</vt:lpstr>
      <vt:lpstr>The Data</vt:lpstr>
      <vt:lpstr>PowerPoint 演示文稿</vt:lpstr>
      <vt:lpstr>PowerPoint 演示文稿</vt:lpstr>
      <vt:lpstr>PowerPoint 演示文稿</vt:lpstr>
      <vt:lpstr>Limitations &amp; Improvements</vt:lpstr>
      <vt:lpstr>Thank You!  Questions? Code: https://github.com/Catstrophi/BME303-Bone-Fracture-Simulation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Xinhe Wang</dc:creator>
  <cp:lastModifiedBy>Xinhe Wang</cp:lastModifiedBy>
  <cp:revision>6</cp:revision>
  <dcterms:created xsi:type="dcterms:W3CDTF">2026-04-10T04:23:02Z</dcterms:created>
  <dcterms:modified xsi:type="dcterms:W3CDTF">2026-04-13T04:12:52Z</dcterms:modified>
</cp:coreProperties>
</file>